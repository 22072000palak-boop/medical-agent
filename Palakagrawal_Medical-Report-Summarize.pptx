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65" r:id="rId9"/>
    <p:sldId id="266" r:id="rId10"/>
    <p:sldId id="267" r:id="rId11"/>
    <p:sldId id="2146847059" r:id="rId12"/>
    <p:sldId id="2146847057" r:id="rId13"/>
    <p:sldId id="2146847058" r:id="rId14"/>
    <p:sldId id="268" r:id="rId15"/>
    <p:sldId id="2146847055" r:id="rId16"/>
    <p:sldId id="269" r:id="rId17"/>
    <p:sldId id="2146847056"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42BA97"/>
    <a:srgbClr val="8E6C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EC2134-FE55-D600-31C0-C82AB450B7AA}" v="39" dt="2026-08-09T17:41:19.1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876"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p14="http://schemas.microsoft.com/office/powerpoint/2010/main" xmlns=""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7E254F1-4415-47BF-9E91-C5D4B9A33350}" type="slidenum">
              <a:rPr lang="en-IN" smtClean="0"/>
              <a:pPr/>
              <a:t>7</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7E254F1-4415-47BF-9E91-C5D4B9A33350}" type="slidenum">
              <a:rPr lang="en-IN" smtClean="0"/>
              <a:pPr/>
              <a:t>8</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7E254F1-4415-47BF-9E91-C5D4B9A33350}" type="slidenum">
              <a:rPr lang="en-IN" smtClean="0"/>
              <a:pPr/>
              <a:t>9</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7E254F1-4415-47BF-9E91-C5D4B9A33350}" type="slidenum">
              <a:rPr lang="en-IN" smtClean="0"/>
              <a:pPr/>
              <a:t>10</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xmlns="" id="{7FA0ACE7-29A8-47D3-A7D9-257B711D8023}"/>
              </a:ext>
            </a:extLst>
          </p:cNvPr>
          <p:cNvSpPr>
            <a:spLocks noGrp="1"/>
          </p:cNvSpPr>
          <p:nvPr>
            <p:ph type="dt" sz="half" idx="10"/>
          </p:nvPr>
        </p:nvSpPr>
        <p:spPr/>
        <p:txBody>
          <a:bodyPr/>
          <a:lstStyle/>
          <a:p>
            <a:fld id="{ED291B17-9318-49DB-B28B-6E5994AE9581}" type="datetime1">
              <a:rPr lang="en-US" smtClean="0"/>
              <a:pPr/>
              <a:t>9/7/2026</a:t>
            </a:fld>
            <a:endParaRPr lang="en-US"/>
          </a:p>
        </p:txBody>
      </p:sp>
      <p:sp>
        <p:nvSpPr>
          <p:cNvPr id="9" name="Footer Placeholder 8">
            <a:extLst>
              <a:ext uri="{FF2B5EF4-FFF2-40B4-BE49-F238E27FC236}">
                <a16:creationId xmlns:a16="http://schemas.microsoft.com/office/drawing/2014/main" xmlns=""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xmlns="" id="{770E6237-3456-439F-802D-3BA93FC7E3E5}"/>
              </a:ext>
            </a:extLst>
          </p:cNvPr>
          <p:cNvSpPr>
            <a:spLocks noGrp="1"/>
          </p:cNvSpPr>
          <p:nvPr>
            <p:ph type="dt" sz="half" idx="10"/>
          </p:nvPr>
        </p:nvSpPr>
        <p:spPr/>
        <p:txBody>
          <a:bodyPr/>
          <a:lstStyle/>
          <a:p>
            <a:fld id="{78DD82B9-B8EE-4375-B6FF-88FA6ABB15D9}" type="datetime1">
              <a:rPr lang="en-US" smtClean="0"/>
              <a:pPr/>
              <a:t>9/7/2026</a:t>
            </a:fld>
            <a:endParaRPr lang="en-US"/>
          </a:p>
        </p:txBody>
      </p:sp>
    </p:spTree>
    <p:extLst>
      <p:ext uri="{BB962C8B-B14F-4D97-AF65-F5344CB8AC3E}">
        <p14:creationId xmlns:p14="http://schemas.microsoft.com/office/powerpoint/2010/main" xmlns=""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xmlns="" id="{61582016-5696-4A93-887F-BBB3B9002FE5}"/>
              </a:ext>
            </a:extLst>
          </p:cNvPr>
          <p:cNvSpPr>
            <a:spLocks noGrp="1"/>
          </p:cNvSpPr>
          <p:nvPr>
            <p:ph type="dt" sz="half" idx="10"/>
          </p:nvPr>
        </p:nvSpPr>
        <p:spPr/>
        <p:txBody>
          <a:bodyPr/>
          <a:lstStyle/>
          <a:p>
            <a:fld id="{B2497495-0637-405E-AE64-5CC7506D51F5}" type="datetime1">
              <a:rPr lang="en-US" smtClean="0"/>
              <a:pPr/>
              <a:t>9/7/2026</a:t>
            </a:fld>
            <a:endParaRPr lang="en-US"/>
          </a:p>
        </p:txBody>
      </p:sp>
      <p:sp>
        <p:nvSpPr>
          <p:cNvPr id="9" name="Footer Placeholder 8">
            <a:extLst>
              <a:ext uri="{FF2B5EF4-FFF2-40B4-BE49-F238E27FC236}">
                <a16:creationId xmlns:a16="http://schemas.microsoft.com/office/drawing/2014/main" xmlns=""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9/7/2026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9/7/2026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9/7/2026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9/7/2026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xmlns=""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9/7/2026</a:t>
            </a:fld>
            <a:endParaRPr lang="en-US"/>
          </a:p>
        </p:txBody>
      </p:sp>
      <p:sp>
        <p:nvSpPr>
          <p:cNvPr id="10" name="Footer Placeholder 9">
            <a:extLst>
              <a:ext uri="{FF2B5EF4-FFF2-40B4-BE49-F238E27FC236}">
                <a16:creationId xmlns:a16="http://schemas.microsoft.com/office/drawing/2014/main" xmlns=""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xmlns=""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9/7/2026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9/7/2026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xmlns=""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xmlns=""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xmlns=""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xmlns="" id="{5C74A470-3BD3-4F33-80E5-67E6E87FCBE7}"/>
              </a:ext>
            </a:extLst>
          </p:cNvPr>
          <p:cNvSpPr>
            <a:spLocks noGrp="1"/>
          </p:cNvSpPr>
          <p:nvPr>
            <p:ph type="dt" sz="half" idx="10"/>
          </p:nvPr>
        </p:nvSpPr>
        <p:spPr/>
        <p:txBody>
          <a:bodyPr/>
          <a:lstStyle/>
          <a:p>
            <a:fld id="{ED291B17-9318-49DB-B28B-6E5994AE9581}" type="datetime1">
              <a:rPr lang="en-US" smtClean="0"/>
              <a:pPr/>
              <a:t>9/7/2026</a:t>
            </a:fld>
            <a:endParaRPr lang="en-US"/>
          </a:p>
        </p:txBody>
      </p:sp>
      <p:sp>
        <p:nvSpPr>
          <p:cNvPr id="12" name="Footer Placeholder 11">
            <a:extLst>
              <a:ext uri="{FF2B5EF4-FFF2-40B4-BE49-F238E27FC236}">
                <a16:creationId xmlns:a16="http://schemas.microsoft.com/office/drawing/2014/main" xmlns=""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xmlns=""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9/7/2026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xmlns=""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xmlns=""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i.google.dev/gemini-api/docs" TargetMode="External"/><Relationship Id="rId2" Type="http://schemas.openxmlformats.org/officeDocument/2006/relationships/hyperlink" Target="https://github.com/22072000palak-boop/Medical-Agent.git" TargetMode="External"/><Relationship Id="rId1" Type="http://schemas.openxmlformats.org/officeDocument/2006/relationships/slideLayout" Target="../slideLayouts/slideLayout2.xml"/><Relationship Id="rId4" Type="http://schemas.openxmlformats.org/officeDocument/2006/relationships/hyperlink" Target="https://docs.streamlit.io/"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medical-agent-qwhjbmvr8ncrrmhvticiuo.streamlit.app/" TargetMode="External"/><Relationship Id="rId2" Type="http://schemas.openxmlformats.org/officeDocument/2006/relationships/hyperlink" Target="https://github.com/22072000palak-boop/Medical-Agent.gi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A11E26-4C38-41A6-9857-11032CEECD80}"/>
              </a:ext>
            </a:extLst>
          </p:cNvPr>
          <p:cNvSpPr>
            <a:spLocks noGrp="1"/>
          </p:cNvSpPr>
          <p:nvPr>
            <p:ph type="ctrTitle"/>
          </p:nvPr>
        </p:nvSpPr>
        <p:spPr>
          <a:xfrm>
            <a:off x="1359108" y="1821635"/>
            <a:ext cx="9144000" cy="977778"/>
          </a:xfrm>
        </p:spPr>
        <p:txBody>
          <a:bodyPr/>
          <a:lstStyle/>
          <a:p>
            <a:pPr algn="ctr"/>
            <a:endParaRPr lang="en-US" b="1">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2800" b="1">
                <a:solidFill>
                  <a:schemeClr val="accent1">
                    <a:lumMod val="75000"/>
                  </a:schemeClr>
                </a:solidFill>
                <a:latin typeface="Arial"/>
                <a:cs typeface="Arial"/>
              </a:rPr>
              <a:t>AI-POWERED MEDICAL REPORT SUMMARIZER</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Palak Agrawal</a:t>
            </a:r>
          </a:p>
          <a:p>
            <a:pPr marL="457200" indent="-457200">
              <a:buAutoNum type="arabicPeriod"/>
            </a:pPr>
            <a:r>
              <a:rPr lang="en-US" sz="2000" b="1" dirty="0">
                <a:solidFill>
                  <a:schemeClr val="accent1">
                    <a:lumMod val="75000"/>
                  </a:schemeClr>
                </a:solidFill>
                <a:latin typeface="Arial"/>
                <a:cs typeface="Arial"/>
              </a:rPr>
              <a:t>College Name: S.S. College of Education, Sarbahar C.G.</a:t>
            </a:r>
          </a:p>
          <a:p>
            <a:pPr marL="457200" indent="-457200">
              <a:buAutoNum type="arabicPeriod"/>
            </a:pPr>
            <a:r>
              <a:rPr lang="en-US" sz="2000" b="1" dirty="0">
                <a:solidFill>
                  <a:schemeClr val="accent1">
                    <a:lumMod val="75000"/>
                  </a:schemeClr>
                </a:solidFill>
                <a:latin typeface="Arial"/>
                <a:cs typeface="Arial"/>
              </a:rPr>
              <a:t>Department: Science</a:t>
            </a:r>
          </a:p>
          <a:p>
            <a:r>
              <a:rPr lang="en-US" sz="2000" b="1" dirty="0">
                <a:solidFill>
                  <a:schemeClr val="accent1">
                    <a:lumMod val="75000"/>
                  </a:schemeClr>
                </a:solidFill>
                <a:latin typeface="Arial"/>
                <a:cs typeface="Arial"/>
              </a:rPr>
              <a:t>4.   AICTE ID</a:t>
            </a:r>
            <a:r>
              <a:rPr lang="en-US" sz="2000" b="1" dirty="0" smtClean="0">
                <a:solidFill>
                  <a:schemeClr val="accent1">
                    <a:lumMod val="75000"/>
                  </a:schemeClr>
                </a:solidFill>
                <a:latin typeface="Arial"/>
                <a:cs typeface="Arial"/>
              </a:rPr>
              <a:t>: STU6a686a9a99d481785227930</a:t>
            </a:r>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xmlns=""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xmlns=""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a:latin typeface="Arial"/>
                <a:ea typeface="+mn-lt"/>
                <a:cs typeface="Arial"/>
              </a:rPr>
              <a:t>  </a:t>
            </a:r>
            <a:endParaRPr lang="en-US">
              <a:latin typeface="Arial"/>
              <a:cs typeface="Arial"/>
            </a:endParaRPr>
          </a:p>
          <a:p>
            <a:r>
              <a:rPr lang="en-US" sz="2000" b="1">
                <a:latin typeface="Arial"/>
                <a:ea typeface="+mn-lt"/>
                <a:cs typeface="Arial"/>
              </a:rPr>
              <a:t>Problem Statement </a:t>
            </a:r>
            <a:r>
              <a:rPr lang="en-US" sz="2000">
                <a:latin typeface="Arial"/>
                <a:ea typeface="+mn-lt"/>
                <a:cs typeface="Arial"/>
              </a:rPr>
              <a:t>(Should not include solution)</a:t>
            </a:r>
            <a:endParaRPr lang="en-US">
              <a:latin typeface="Arial"/>
              <a:cs typeface="Arial"/>
            </a:endParaRPr>
          </a:p>
          <a:p>
            <a:r>
              <a:rPr lang="en-US" sz="2000" b="1">
                <a:latin typeface="Arial"/>
                <a:ea typeface="+mn-lt"/>
                <a:cs typeface="Arial"/>
              </a:rPr>
              <a:t>Proposed System/Solution</a:t>
            </a:r>
            <a:endParaRPr lang="en-US">
              <a:latin typeface="Arial"/>
              <a:cs typeface="Arial"/>
            </a:endParaRPr>
          </a:p>
          <a:p>
            <a:r>
              <a:rPr lang="en-US" sz="2000" b="1">
                <a:latin typeface="Arial"/>
                <a:ea typeface="+mn-lt"/>
                <a:cs typeface="Calibri"/>
              </a:rPr>
              <a:t>System </a:t>
            </a:r>
            <a:r>
              <a:rPr lang="en-US" sz="2000" b="1">
                <a:latin typeface="Arial"/>
                <a:ea typeface="+mn-lt"/>
                <a:cs typeface="+mn-lt"/>
              </a:rPr>
              <a:t>Development Approach </a:t>
            </a:r>
            <a:r>
              <a:rPr lang="en-US" sz="2000">
                <a:latin typeface="Arial"/>
                <a:ea typeface="+mn-lt"/>
                <a:cs typeface="+mn-lt"/>
              </a:rPr>
              <a:t>(Technology Used) </a:t>
            </a:r>
            <a:endParaRPr lang="en-US">
              <a:latin typeface="Arial"/>
              <a:ea typeface="+mn-lt"/>
              <a:cs typeface="+mn-lt"/>
            </a:endParaRPr>
          </a:p>
          <a:p>
            <a:r>
              <a:rPr lang="en-US" sz="2000" b="1">
                <a:latin typeface="Arial"/>
                <a:ea typeface="+mn-lt"/>
                <a:cs typeface="+mn-lt"/>
              </a:rPr>
              <a:t>Algorithm &amp; Deployment  </a:t>
            </a:r>
            <a:endParaRPr lang="en-US">
              <a:latin typeface="Arial"/>
              <a:cs typeface="Calibri"/>
            </a:endParaRPr>
          </a:p>
          <a:p>
            <a:r>
              <a:rPr lang="en-US" sz="2000" b="1">
                <a:latin typeface="Arial"/>
                <a:ea typeface="+mn-lt"/>
                <a:cs typeface="Arial"/>
              </a:rPr>
              <a:t>Result</a:t>
            </a:r>
          </a:p>
          <a:p>
            <a:r>
              <a:rPr lang="en-US" sz="2000" b="1">
                <a:latin typeface="Arial"/>
                <a:ea typeface="+mn-lt"/>
                <a:cs typeface="Arial"/>
              </a:rPr>
              <a:t>Conclusion</a:t>
            </a:r>
            <a:endParaRPr lang="en-US">
              <a:latin typeface="Arial"/>
              <a:cs typeface="Arial"/>
            </a:endParaRPr>
          </a:p>
          <a:p>
            <a:r>
              <a:rPr lang="en-US" sz="2000" b="1">
                <a:latin typeface="Arial"/>
                <a:ea typeface="+mn-lt"/>
                <a:cs typeface="Arial"/>
              </a:rPr>
              <a:t>Future Scope</a:t>
            </a:r>
          </a:p>
          <a:p>
            <a:r>
              <a:rPr lang="en-US" sz="2000" b="1">
                <a:latin typeface="Arial"/>
                <a:ea typeface="+mn-lt"/>
                <a:cs typeface="Arial"/>
              </a:rPr>
              <a:t>References</a:t>
            </a:r>
            <a:endParaRPr lang="en-US">
              <a:latin typeface="Arial"/>
              <a:cs typeface="Arial"/>
            </a:endParaRPr>
          </a:p>
          <a:p>
            <a:endParaRPr lang="en-US">
              <a:latin typeface="Arial"/>
              <a:cs typeface="Arial"/>
            </a:endParaRPr>
          </a:p>
        </p:txBody>
      </p:sp>
    </p:spTree>
    <p:extLst>
      <p:ext uri="{BB962C8B-B14F-4D97-AF65-F5344CB8AC3E}">
        <p14:creationId xmlns:p14="http://schemas.microsoft.com/office/powerpoint/2010/main" xmlns=""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xmlns="" id="{8FEE4A9C-3F57-7DA7-91FD-715C3FB47F93}"/>
              </a:ext>
            </a:extLst>
          </p:cNvPr>
          <p:cNvSpPr>
            <a:spLocks noGrp="1"/>
          </p:cNvSpPr>
          <p:nvPr>
            <p:ph idx="1"/>
          </p:nvPr>
        </p:nvSpPr>
        <p:spPr>
          <a:xfrm>
            <a:off x="452403" y="1237632"/>
            <a:ext cx="11029615" cy="4673324"/>
          </a:xfrm>
        </p:spPr>
        <p:txBody>
          <a:bodyPr/>
          <a:lstStyle/>
          <a:p>
            <a:pPr>
              <a:buNone/>
            </a:pPr>
            <a:r>
              <a:rPr lang="en-US" dirty="0" smtClean="0"/>
              <a:t>      Medical </a:t>
            </a:r>
            <a:r>
              <a:rPr lang="en-US" dirty="0" smtClean="0"/>
              <a:t>reports such as blood tests, discharge summaries, and imaging reports are often written in complex clinical language filled with technical terms, abbreviations, and numerical values. Most patients find it difficult to understand what their reports actually mean, why a particular value is high or low, or what it may imply for their health. This can lead to unnecessary anxiety, misinterpretation of medical information, and difficulty in preparing the right questions for their doctor during consultations. Therefore, there is a need for a simple and accessible tool that can instantly translate medical reports into clear, patient-friendly language while ensuring that it does not replace professional medical advice.</a:t>
            </a:r>
          </a:p>
          <a:p>
            <a:pPr>
              <a:buNone/>
            </a:pPr>
            <a:endParaRPr lang="en-IN" dirty="0"/>
          </a:p>
        </p:txBody>
      </p:sp>
    </p:spTree>
    <p:extLst>
      <p:ext uri="{BB962C8B-B14F-4D97-AF65-F5344CB8AC3E}">
        <p14:creationId xmlns:p14="http://schemas.microsoft.com/office/powerpoint/2010/main" xmlns=""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xmlns=""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r>
              <a:rPr lang="en-IN" sz="1200" b="1">
                <a:latin typeface="Calibri"/>
                <a:ea typeface="+mn-lt"/>
                <a:cs typeface="+mn-lt"/>
              </a:rPr>
              <a:t>MedReport Simplifier is an AI-powered web application that converts complex medical reports into clear, patient-friendly summaries. The solution consists of the following components:</a:t>
            </a:r>
            <a:endParaRPr lang="en-IN" sz="1200" b="1">
              <a:latin typeface="Calibri"/>
              <a:cs typeface="Calibri"/>
            </a:endParaRPr>
          </a:p>
          <a:p>
            <a:pPr marL="305435" indent="-305435"/>
            <a:r>
              <a:rPr lang="en-IN" sz="1200" b="1">
                <a:latin typeface="Calibri"/>
                <a:ea typeface="+mn-lt"/>
                <a:cs typeface="+mn-lt"/>
              </a:rPr>
              <a:t>Report Upload:</a:t>
            </a:r>
            <a:endParaRPr lang="en-IN" sz="1200" b="1">
              <a:latin typeface="Calibri"/>
              <a:cs typeface="Calibri"/>
            </a:endParaRPr>
          </a:p>
          <a:p>
            <a:pPr marL="629920" lvl="1" indent="-305435"/>
            <a:r>
              <a:rPr lang="en-IN" sz="1200" b="1">
                <a:latin typeface="Calibri"/>
                <a:ea typeface="+mn-lt"/>
                <a:cs typeface="+mn-lt"/>
              </a:rPr>
              <a:t>Accept medical reports in multiple formats – PDF (lab reports, discharge summaries, imaging reports), scanned images (PNG/JPG), and plain text.</a:t>
            </a:r>
            <a:endParaRPr lang="en-IN" sz="1200" b="1">
              <a:latin typeface="Calibri"/>
              <a:cs typeface="Calibri"/>
            </a:endParaRPr>
          </a:p>
          <a:p>
            <a:pPr marL="629920" lvl="1" indent="-305435"/>
            <a:r>
              <a:rPr lang="en-IN" sz="1200" b="1">
                <a:latin typeface="Calibri"/>
                <a:ea typeface="+mn-lt"/>
                <a:cs typeface="+mn-lt"/>
              </a:rPr>
              <a:t>Allow the user to optionally add personal context, such as age, existing conditions, medications, or reason for the test.</a:t>
            </a:r>
            <a:endParaRPr lang="en-IN" sz="1200" b="1">
              <a:latin typeface="Calibri"/>
              <a:cs typeface="Calibri"/>
            </a:endParaRPr>
          </a:p>
          <a:p>
            <a:pPr marL="305435" indent="-305435"/>
            <a:r>
              <a:rPr lang="en-IN" sz="1200" b="1">
                <a:latin typeface="Calibri"/>
                <a:ea typeface="+mn-lt"/>
                <a:cs typeface="+mn-lt"/>
              </a:rPr>
              <a:t>Text Extraction:</a:t>
            </a:r>
            <a:endParaRPr lang="en-IN" sz="1200" b="1">
              <a:latin typeface="Calibri"/>
              <a:cs typeface="Calibri"/>
            </a:endParaRPr>
          </a:p>
          <a:p>
            <a:pPr marL="629920" lvl="1" indent="-305435"/>
            <a:r>
              <a:rPr lang="en-IN" sz="1200" b="1">
                <a:latin typeface="Calibri"/>
                <a:ea typeface="+mn-lt"/>
                <a:cs typeface="+mn-lt"/>
              </a:rPr>
              <a:t>Extract raw text from the uploaded file, handling both digital documents and scanned/image-based reports.</a:t>
            </a:r>
            <a:endParaRPr lang="en-IN" sz="1200" b="1">
              <a:latin typeface="Calibri"/>
              <a:cs typeface="Calibri"/>
            </a:endParaRPr>
          </a:p>
          <a:p>
            <a:pPr marL="305435" indent="-305435"/>
            <a:r>
              <a:rPr lang="en-IN" sz="1200" b="1">
                <a:latin typeface="Calibri"/>
                <a:ea typeface="+mn-lt"/>
                <a:cs typeface="+mn-lt"/>
              </a:rPr>
              <a:t>AI-Based Analysis:</a:t>
            </a:r>
            <a:endParaRPr lang="en-IN" sz="1200" b="1">
              <a:latin typeface="Calibri"/>
              <a:cs typeface="Calibri"/>
            </a:endParaRPr>
          </a:p>
          <a:p>
            <a:pPr marL="629920" lvl="1" indent="-305435"/>
            <a:r>
              <a:rPr lang="en-IN" sz="1200" b="1">
                <a:latin typeface="Calibri"/>
                <a:ea typeface="+mn-lt"/>
                <a:cs typeface="+mn-lt"/>
              </a:rPr>
              <a:t>Send the extracted text, along with a carefully engineered prompt, to Google’s Gemini 3.6 Flash model.</a:t>
            </a:r>
            <a:endParaRPr lang="en-IN" sz="1200" b="1">
              <a:latin typeface="Calibri"/>
              <a:cs typeface="Calibri"/>
            </a:endParaRPr>
          </a:p>
          <a:p>
            <a:pPr marL="629920" lvl="1" indent="-305435"/>
            <a:r>
              <a:rPr lang="en-IN" sz="1200" b="1">
                <a:latin typeface="Calibri"/>
                <a:ea typeface="+mn-lt"/>
                <a:cs typeface="+mn-lt"/>
              </a:rPr>
              <a:t>The model identifies what the report is about, explains key findings in plain language, and highlights results that need attention.</a:t>
            </a:r>
            <a:endParaRPr lang="en-IN" sz="1200" b="1">
              <a:latin typeface="Calibri"/>
              <a:cs typeface="Calibri"/>
            </a:endParaRPr>
          </a:p>
          <a:p>
            <a:pPr marL="305435" indent="-305435"/>
            <a:r>
              <a:rPr lang="en-IN" sz="1200" b="1">
                <a:latin typeface="Calibri"/>
                <a:ea typeface="+mn-lt"/>
                <a:cs typeface="+mn-lt"/>
              </a:rPr>
              <a:t>Patient-Friendly Output:</a:t>
            </a:r>
            <a:endParaRPr lang="en-IN" sz="1200" b="1">
              <a:latin typeface="Calibri"/>
              <a:cs typeface="Calibri"/>
            </a:endParaRPr>
          </a:p>
          <a:p>
            <a:pPr marL="629920" lvl="1" indent="-305435"/>
            <a:r>
              <a:rPr lang="en-IN" sz="1200" b="1">
                <a:latin typeface="Calibri"/>
                <a:ea typeface="+mn-lt"/>
                <a:cs typeface="+mn-lt"/>
              </a:rPr>
              <a:t>Generate a structured summary covering: what the report means, key findings explained simply, flagged results, recommended next steps, and questions to ask the doctor.</a:t>
            </a:r>
            <a:endParaRPr lang="en-IN" sz="1200" b="1">
              <a:latin typeface="Calibri"/>
              <a:cs typeface="Calibri"/>
            </a:endParaRPr>
          </a:p>
          <a:p>
            <a:pPr marL="305435" indent="-305435"/>
            <a:r>
              <a:rPr lang="en-IN" sz="1200" b="1">
                <a:latin typeface="Calibri"/>
                <a:ea typeface="+mn-lt"/>
                <a:cs typeface="+mn-lt"/>
              </a:rPr>
              <a:t>Deployment:</a:t>
            </a:r>
            <a:endParaRPr lang="en-IN" sz="1200" b="1">
              <a:latin typeface="Calibri"/>
              <a:cs typeface="Calibri"/>
            </a:endParaRPr>
          </a:p>
          <a:p>
            <a:pPr marL="629920" lvl="1" indent="-305435"/>
            <a:r>
              <a:rPr lang="en-IN" sz="1200" b="1">
                <a:latin typeface="Calibri"/>
                <a:ea typeface="+mn-lt"/>
                <a:cs typeface="+mn-lt"/>
              </a:rPr>
              <a:t>Build an easy-to-use web interface using Streamlit.</a:t>
            </a:r>
            <a:endParaRPr lang="en-IN" sz="1200" b="1">
              <a:latin typeface="Calibri"/>
              <a:cs typeface="Calibri"/>
            </a:endParaRPr>
          </a:p>
          <a:p>
            <a:pPr marL="629920" lvl="1" indent="-305435"/>
            <a:r>
              <a:rPr lang="en-IN" sz="1200" b="1">
                <a:latin typeface="Calibri"/>
                <a:ea typeface="+mn-lt"/>
                <a:cs typeface="+mn-lt"/>
              </a:rPr>
              <a:t>Deploy the application on Streamlit Community Cloud so it is accessible to anyone with a browser.</a:t>
            </a:r>
            <a:endParaRPr lang="en-IN" sz="1200" b="1">
              <a:latin typeface="Calibri"/>
              <a:cs typeface="Calibri"/>
            </a:endParaRPr>
          </a:p>
          <a:p>
            <a:pPr marL="305435" indent="-305435"/>
            <a:r>
              <a:rPr lang="en-IN" sz="1200" b="1">
                <a:latin typeface="Calibri"/>
                <a:ea typeface="+mn-lt"/>
                <a:cs typeface="+mn-lt"/>
              </a:rPr>
              <a:t>Output &amp; Download:</a:t>
            </a:r>
            <a:endParaRPr lang="en-IN" sz="1200" b="1">
              <a:latin typeface="Calibri"/>
              <a:cs typeface="Calibri"/>
            </a:endParaRPr>
          </a:p>
          <a:p>
            <a:pPr marL="629920" lvl="1" indent="-305435"/>
            <a:r>
              <a:rPr lang="en-IN" sz="1200" b="1">
                <a:latin typeface="Calibri"/>
                <a:ea typeface="+mn-lt"/>
                <a:cs typeface="+mn-lt"/>
              </a:rPr>
              <a:t>Let users download the simplified summary as a text (.txt) or Markdown (.md) file for future reference or to share with their doctor.</a:t>
            </a:r>
            <a:endParaRPr lang="en-IN" sz="1200" b="1">
              <a:latin typeface="Calibri"/>
              <a:cs typeface="Calibri"/>
            </a:endParaRPr>
          </a:p>
          <a:p>
            <a:pPr marL="0" indent="0">
              <a:buNone/>
            </a:pPr>
            <a:endParaRPr lang="en-IN"/>
          </a:p>
        </p:txBody>
      </p:sp>
    </p:spTree>
    <p:extLst>
      <p:ext uri="{BB962C8B-B14F-4D97-AF65-F5344CB8AC3E}">
        <p14:creationId xmlns:p14="http://schemas.microsoft.com/office/powerpoint/2010/main" xmlns=""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xmlns="" id="{C4FFAF3C-BA60-9181-132C-C36C403AAEA7}"/>
              </a:ext>
            </a:extLst>
          </p:cNvPr>
          <p:cNvSpPr>
            <a:spLocks noGrp="1"/>
          </p:cNvSpPr>
          <p:nvPr>
            <p:ph idx="1"/>
          </p:nvPr>
        </p:nvSpPr>
        <p:spPr/>
        <p:txBody>
          <a:bodyPr/>
          <a:lstStyle/>
          <a:p>
            <a:pPr marL="0" indent="0">
              <a:buNone/>
            </a:pPr>
            <a:r>
              <a:rPr lang="en-IN" sz="1800" b="1">
                <a:solidFill>
                  <a:srgbClr val="0F0F0F"/>
                </a:solidFill>
                <a:ea typeface="+mn-lt"/>
                <a:cs typeface="+mn-lt"/>
              </a:rPr>
              <a:t>The System Approach outlines the overall strategy and technology stack used to build and run the MedReport Simplifier application:</a:t>
            </a:r>
            <a:endParaRPr lang="en-US"/>
          </a:p>
          <a:p>
            <a:pPr marL="305435" indent="-305435"/>
            <a:r>
              <a:rPr lang="en-IN" sz="1800" b="1">
                <a:solidFill>
                  <a:srgbClr val="0F0F0F"/>
                </a:solidFill>
              </a:rPr>
              <a:t>System Requirements</a:t>
            </a:r>
          </a:p>
          <a:p>
            <a:pPr marL="629920" lvl="1" indent="-305435"/>
            <a:r>
              <a:rPr lang="en-IN" sz="1600">
                <a:solidFill>
                  <a:srgbClr val="0F0F0F"/>
                </a:solidFill>
              </a:rPr>
              <a:t>Python 3.x runtime with internet access for API calls</a:t>
            </a:r>
          </a:p>
          <a:p>
            <a:pPr marL="629920" lvl="1" indent="-305435"/>
            <a:r>
              <a:rPr lang="en-IN" sz="1600">
                <a:solidFill>
                  <a:srgbClr val="0F0F0F"/>
                </a:solidFill>
              </a:rPr>
              <a:t>A valid Google Gemini API key for report analysis</a:t>
            </a:r>
          </a:p>
          <a:p>
            <a:pPr marL="629920" lvl="1" indent="-305435"/>
            <a:r>
              <a:rPr lang="en-IN" sz="1600">
                <a:solidFill>
                  <a:srgbClr val="0F0F0F"/>
                </a:solidFill>
              </a:rPr>
              <a:t>Web browser to access the deployed Streamlit application</a:t>
            </a:r>
          </a:p>
          <a:p>
            <a:pPr marL="305435" indent="-305435"/>
            <a:r>
              <a:rPr lang="en-IN" sz="1800" b="1">
                <a:solidFill>
                  <a:srgbClr val="0F0F0F"/>
                </a:solidFill>
              </a:rPr>
              <a:t>Libraries &amp; Tools Used</a:t>
            </a:r>
          </a:p>
          <a:p>
            <a:pPr marL="629920" lvl="1" indent="-305435"/>
            <a:r>
              <a:rPr lang="en-IN" sz="1600">
                <a:solidFill>
                  <a:srgbClr val="0F0F0F"/>
                </a:solidFill>
              </a:rPr>
              <a:t>Streamlit – for building the interactive web interface</a:t>
            </a:r>
          </a:p>
          <a:p>
            <a:pPr marL="629920" lvl="1" indent="-305435"/>
            <a:r>
              <a:rPr lang="en-IN" sz="1600">
                <a:solidFill>
                  <a:srgbClr val="0F0F0F"/>
                </a:solidFill>
              </a:rPr>
              <a:t>google-genai – Python SDK to call the Gemini 3.6 Flash model</a:t>
            </a:r>
          </a:p>
          <a:p>
            <a:pPr marL="629920" lvl="1" indent="-305435"/>
            <a:r>
              <a:rPr lang="en-IN" sz="1600">
                <a:solidFill>
                  <a:srgbClr val="0F0F0F"/>
                </a:solidFill>
              </a:rPr>
              <a:t>PDF and image handling libraries to read uploaded reports</a:t>
            </a:r>
          </a:p>
          <a:p>
            <a:pPr marL="629920" lvl="1" indent="-305435"/>
            <a:r>
              <a:rPr lang="en-IN" sz="1600">
                <a:solidFill>
                  <a:srgbClr val="0F0F0F"/>
                </a:solidFill>
              </a:rPr>
              <a:t>Git &amp; GitHub for version control and code hosting</a:t>
            </a:r>
          </a:p>
        </p:txBody>
      </p:sp>
    </p:spTree>
    <p:extLst>
      <p:ext uri="{BB962C8B-B14F-4D97-AF65-F5344CB8AC3E}">
        <p14:creationId xmlns:p14="http://schemas.microsoft.com/office/powerpoint/2010/main" xmlns=""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p:txBody>
          <a:bodyPr anchor="t">
            <a:normAutofit lnSpcReduction="10000"/>
          </a:bodyPr>
          <a:lstStyle/>
          <a:p>
            <a:pPr marL="305435" indent="-305435"/>
            <a:r>
              <a:rPr lang="en-IN" sz="1400">
                <a:ea typeface="+mn-lt"/>
                <a:cs typeface="+mn-lt"/>
              </a:rPr>
              <a:t>The application relies on prompt-engineered generative AI rather than a traditionally trained ML model. Here is how it works:</a:t>
            </a:r>
            <a:endParaRPr lang="en-IN" sz="1400"/>
          </a:p>
          <a:p>
            <a:pPr marL="305435" indent="-305435"/>
            <a:r>
              <a:rPr lang="en-IN" sz="1400" b="1">
                <a:ea typeface="+mn-lt"/>
                <a:cs typeface="+mn-lt"/>
              </a:rPr>
              <a:t>Model Selection:</a:t>
            </a:r>
            <a:endParaRPr lang="en-IN" sz="1400"/>
          </a:p>
          <a:p>
            <a:pPr marL="629920" lvl="1" indent="-305435"/>
            <a:r>
              <a:rPr lang="en-IN" sz="1400">
                <a:ea typeface="+mn-lt"/>
                <a:cs typeface="+mn-lt"/>
              </a:rPr>
              <a:t>Uses Google’s Gemini 3.6 Flash, a fast multimodal large language model, chosen for its strong language understanding and low latency – ideal for real-time report summarization.</a:t>
            </a:r>
            <a:endParaRPr lang="en-IN" sz="1400"/>
          </a:p>
          <a:p>
            <a:pPr marL="305435" indent="-305435"/>
            <a:r>
              <a:rPr lang="en-IN" sz="1400" b="1">
                <a:ea typeface="+mn-lt"/>
                <a:cs typeface="+mn-lt"/>
              </a:rPr>
              <a:t>Data Input:</a:t>
            </a:r>
            <a:endParaRPr lang="en-IN" sz="1400"/>
          </a:p>
          <a:p>
            <a:pPr marL="629920" lvl="1" indent="-305435"/>
            <a:r>
              <a:rPr lang="en-IN" sz="1400">
                <a:ea typeface="+mn-lt"/>
                <a:cs typeface="+mn-lt"/>
              </a:rPr>
              <a:t>Text extracted from the uploaded report (PDF, image, or plain text), along with optional patient context such as age, existing conditions, and medications.</a:t>
            </a:r>
            <a:endParaRPr lang="en-IN" sz="1400"/>
          </a:p>
          <a:p>
            <a:pPr marL="305435" indent="-305435"/>
            <a:r>
              <a:rPr lang="en-IN" sz="1400" b="1">
                <a:ea typeface="+mn-lt"/>
                <a:cs typeface="+mn-lt"/>
              </a:rPr>
              <a:t>Prompt Engineering (in place of Training):</a:t>
            </a:r>
            <a:endParaRPr lang="en-IN" sz="1400"/>
          </a:p>
          <a:p>
            <a:pPr marL="629920" lvl="1" indent="-305435"/>
            <a:r>
              <a:rPr lang="en-IN" sz="1400">
                <a:ea typeface="+mn-lt"/>
                <a:cs typeface="+mn-lt"/>
              </a:rPr>
              <a:t>A structured system prompt instructs the model to act as a compassionate medical communication specialist and to always follow a fixed response format: What This Report Is About, Key Findings, Findings That Need Attention, Recommended Next Steps, Questions to Ask the Doctor, and Reassurance &amp; Summary.</a:t>
            </a:r>
            <a:endParaRPr lang="en-IN" sz="1400"/>
          </a:p>
          <a:p>
            <a:pPr marL="305435" indent="-305435"/>
            <a:r>
              <a:rPr lang="en-IN" sz="1400" b="1">
                <a:ea typeface="+mn-lt"/>
                <a:cs typeface="+mn-lt"/>
              </a:rPr>
              <a:t>Prediction / Generation Process:</a:t>
            </a:r>
            <a:endParaRPr lang="en-IN" sz="1400"/>
          </a:p>
          <a:p>
            <a:pPr marL="629920" lvl="1" indent="-305435"/>
            <a:r>
              <a:rPr lang="en-IN" sz="1400">
                <a:ea typeface="+mn-lt"/>
                <a:cs typeface="+mn-lt"/>
              </a:rPr>
              <a:t>The extracted text and prompt are sent to the Gemini API, which returns a plain-language, structured summary that is rendered directly in the app.</a:t>
            </a:r>
            <a:endParaRPr lang="en-IN" sz="1400"/>
          </a:p>
          <a:p>
            <a:pPr marL="305435" indent="-305435"/>
            <a:r>
              <a:rPr lang="en-IN" sz="1400" b="1">
                <a:ea typeface="+mn-lt"/>
                <a:cs typeface="+mn-lt"/>
              </a:rPr>
              <a:t>Deployment:</a:t>
            </a:r>
            <a:endParaRPr lang="en-IN" sz="1400"/>
          </a:p>
          <a:p>
            <a:pPr marL="629920" lvl="1" indent="-305435"/>
            <a:r>
              <a:rPr lang="en-IN" sz="1400">
                <a:ea typeface="+mn-lt"/>
                <a:cs typeface="+mn-lt"/>
              </a:rPr>
              <a:t>Built with Streamlit and deployed on Streamlit Community Cloud, with the source code hosted and version-controlled on GitHub.</a:t>
            </a:r>
            <a:endParaRPr lang="en-IN" sz="1400"/>
          </a:p>
          <a:p>
            <a:pPr marL="305435" indent="-305435"/>
            <a:endParaRPr lang="en-IN" sz="1400"/>
          </a:p>
        </p:txBody>
      </p:sp>
    </p:spTree>
    <p:extLst>
      <p:ext uri="{BB962C8B-B14F-4D97-AF65-F5344CB8AC3E}">
        <p14:creationId xmlns:p14="http://schemas.microsoft.com/office/powerpoint/2010/main" xmlns=""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dirty="0" smtClean="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xmlns="" id="{D3304455-6802-6CA9-8475-2F6DD1B8D409}"/>
              </a:ext>
            </a:extLst>
          </p:cNvPr>
          <p:cNvSpPr>
            <a:spLocks noGrp="1"/>
          </p:cNvSpPr>
          <p:nvPr>
            <p:ph idx="1"/>
          </p:nvPr>
        </p:nvSpPr>
        <p:spPr>
          <a:xfrm>
            <a:off x="452403" y="1237632"/>
            <a:ext cx="11287194" cy="800000"/>
          </a:xfrm>
        </p:spPr>
        <p:txBody>
          <a:bodyPr>
            <a:normAutofit/>
          </a:bodyPr>
          <a:lstStyle/>
          <a:p>
            <a:pPr marL="0" indent="0">
              <a:buNone/>
            </a:pPr>
            <a:r>
              <a:rPr lang="en-IN" sz="1600" smtClean="0">
                <a:solidFill>
                  <a:srgbClr val="0F0F0F"/>
                </a:solidFill>
                <a:ea typeface="+mn-lt"/>
                <a:cs typeface="+mn-lt"/>
              </a:rPr>
              <a:t>The app was tested with a sample blood report. It correctly extracted the data and generated an accurate, well-structured, plain-language summary, as shown below:</a:t>
            </a:r>
            <a:endParaRPr lang="en-IN" sz="1600"/>
          </a:p>
        </p:txBody>
      </p:sp>
      <p:sp>
        <p:nvSpPr>
          <p:cNvPr id="30" name="Caption 20"/>
          <p:cNvSpPr txBox="1"/>
          <p:nvPr/>
        </p:nvSpPr>
        <p:spPr>
          <a:xfrm>
            <a:off x="6913163" y="5033673"/>
            <a:ext cx="3597333" cy="467718"/>
          </a:xfrm>
          <a:prstGeom prst="rect">
            <a:avLst/>
          </a:prstGeom>
          <a:noFill/>
        </p:spPr>
        <p:txBody>
          <a:bodyPr wrap="square" lIns="0" tIns="18000" rIns="0" bIns="0" anchor="t">
            <a:noAutofit/>
          </a:bodyPr>
          <a:lstStyle/>
          <a:p>
            <a:pPr algn="ctr"/>
            <a:endParaRPr lang="en-IN" sz="1600" b="1" dirty="0">
              <a:solidFill>
                <a:schemeClr val="accent1"/>
              </a:solidFill>
            </a:endParaRPr>
          </a:p>
        </p:txBody>
      </p:sp>
      <p:sp>
        <p:nvSpPr>
          <p:cNvPr id="31" name="Caption 21"/>
          <p:cNvSpPr txBox="1"/>
          <p:nvPr/>
        </p:nvSpPr>
        <p:spPr>
          <a:xfrm>
            <a:off x="7330747" y="5034595"/>
            <a:ext cx="3597333" cy="571726"/>
          </a:xfrm>
          <a:prstGeom prst="rect">
            <a:avLst/>
          </a:prstGeom>
          <a:noFill/>
        </p:spPr>
        <p:txBody>
          <a:bodyPr wrap="square" lIns="0" tIns="18000" rIns="0" bIns="0" anchor="t">
            <a:noAutofit/>
          </a:bodyPr>
          <a:lstStyle/>
          <a:p>
            <a:pPr algn="ctr"/>
            <a:endParaRPr lang="en-IN" sz="1200" b="1" dirty="0">
              <a:solidFill>
                <a:schemeClr val="accent1"/>
              </a:solidFill>
            </a:endParaRPr>
          </a:p>
        </p:txBody>
      </p:sp>
      <p:sp>
        <p:nvSpPr>
          <p:cNvPr id="32" name="Caption 22"/>
          <p:cNvSpPr txBox="1"/>
          <p:nvPr/>
        </p:nvSpPr>
        <p:spPr>
          <a:xfrm>
            <a:off x="7232669" y="5078643"/>
            <a:ext cx="3597333" cy="350000"/>
          </a:xfrm>
          <a:prstGeom prst="rect">
            <a:avLst/>
          </a:prstGeom>
          <a:noFill/>
        </p:spPr>
        <p:txBody>
          <a:bodyPr wrap="square" lIns="0" tIns="18000" rIns="0" bIns="0" anchor="t">
            <a:noAutofit/>
          </a:bodyPr>
          <a:lstStyle/>
          <a:p>
            <a:pPr algn="ctr"/>
            <a:endParaRPr lang="en-IN" sz="1200" b="1" dirty="0">
              <a:solidFill>
                <a:schemeClr val="accent1"/>
              </a:solidFill>
            </a:endParaRPr>
          </a:p>
        </p:txBody>
      </p:sp>
      <p:sp>
        <p:nvSpPr>
          <p:cNvPr id="8194" name="AutoShape 2" descr="blob:https://web.whatsapp.com/30714da2-b213-4fd2-b603-48038a7d4b9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196" name="AutoShape 4" descr="blob:https://web.whatsapp.com/30714da2-b213-4fd2-b603-48038a7d4b9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198" name="AutoShape 6" descr="blob:https://web.whatsapp.com/30714da2-b213-4fd2-b603-48038a7d4b9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200" name="AutoShape 8" descr="blob:https://web.whatsapp.com/30714da2-b213-4fd2-b603-48038a7d4b9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4" name="Picture 13" descr="WhatsApp Image 2026-09-06 at 10.22.50 PM.jpeg"/>
          <p:cNvPicPr>
            <a:picLocks noChangeAspect="1"/>
          </p:cNvPicPr>
          <p:nvPr/>
        </p:nvPicPr>
        <p:blipFill>
          <a:blip r:embed="rId3"/>
          <a:stretch>
            <a:fillRect/>
          </a:stretch>
        </p:blipFill>
        <p:spPr>
          <a:xfrm>
            <a:off x="3369618" y="1973350"/>
            <a:ext cx="5789371" cy="3798150"/>
          </a:xfrm>
          <a:prstGeom prst="rect">
            <a:avLst/>
          </a:prstGeom>
        </p:spPr>
      </p:pic>
      <p:sp>
        <p:nvSpPr>
          <p:cNvPr id="24" name="Rectangle 23"/>
          <p:cNvSpPr/>
          <p:nvPr/>
        </p:nvSpPr>
        <p:spPr>
          <a:xfrm>
            <a:off x="5578673" y="5904050"/>
            <a:ext cx="1664238" cy="369332"/>
          </a:xfrm>
          <a:prstGeom prst="rect">
            <a:avLst/>
          </a:prstGeom>
        </p:spPr>
        <p:txBody>
          <a:bodyPr wrap="none">
            <a:spAutoFit/>
          </a:bodyPr>
          <a:lstStyle/>
          <a:p>
            <a:r>
              <a:rPr lang="en-US" b="1" dirty="0" smtClean="0">
                <a:solidFill>
                  <a:schemeClr val="accent1">
                    <a:lumMod val="75000"/>
                  </a:schemeClr>
                </a:solidFill>
              </a:rPr>
              <a:t>IBM BOB CODE</a:t>
            </a:r>
            <a:endParaRPr lang="en-US" b="1" dirty="0">
              <a:solidFill>
                <a:schemeClr val="accent1">
                  <a:lumMod val="75000"/>
                </a:schemeClr>
              </a:solidFill>
            </a:endParaRPr>
          </a:p>
        </p:txBody>
      </p:sp>
    </p:spTree>
    <p:extLst>
      <p:ext uri="{BB962C8B-B14F-4D97-AF65-F5344CB8AC3E}">
        <p14:creationId xmlns:p14="http://schemas.microsoft.com/office/powerpoint/2010/main" xmlns=""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solidFill>
                <a:latin typeface="Arial"/>
                <a:ea typeface="+mj-lt"/>
                <a:cs typeface="Arial"/>
              </a:rPr>
              <a:t>Result</a:t>
            </a:r>
            <a:endParaRPr lang="en-US" dirty="0"/>
          </a:p>
        </p:txBody>
      </p:sp>
      <p:pic>
        <p:nvPicPr>
          <p:cNvPr id="4" name="Content Placeholder 3" descr="WhatsApp Image 2026-09-07 at 6.39.21 PM.jpeg"/>
          <p:cNvPicPr>
            <a:picLocks noGrp="1" noChangeAspect="1"/>
          </p:cNvPicPr>
          <p:nvPr>
            <p:ph idx="1"/>
          </p:nvPr>
        </p:nvPicPr>
        <p:blipFill>
          <a:blip r:embed="rId3"/>
          <a:stretch>
            <a:fillRect/>
          </a:stretch>
        </p:blipFill>
        <p:spPr>
          <a:xfrm>
            <a:off x="2888411" y="1457880"/>
            <a:ext cx="6465451" cy="4307607"/>
          </a:xfrm>
        </p:spPr>
      </p:pic>
      <p:sp>
        <p:nvSpPr>
          <p:cNvPr id="5" name="Rectangle 4"/>
          <p:cNvSpPr/>
          <p:nvPr/>
        </p:nvSpPr>
        <p:spPr>
          <a:xfrm>
            <a:off x="4701023" y="5987534"/>
            <a:ext cx="2400209" cy="369332"/>
          </a:xfrm>
          <a:prstGeom prst="rect">
            <a:avLst/>
          </a:prstGeom>
        </p:spPr>
        <p:txBody>
          <a:bodyPr wrap="none">
            <a:spAutoFit/>
          </a:bodyPr>
          <a:lstStyle/>
          <a:p>
            <a:r>
              <a:rPr lang="en-US" b="1" dirty="0" smtClean="0">
                <a:solidFill>
                  <a:schemeClr val="accent1">
                    <a:lumMod val="75000"/>
                  </a:schemeClr>
                </a:solidFill>
              </a:rPr>
              <a:t>Requirement File(BOB)</a:t>
            </a:r>
            <a:endParaRPr lang="en-US" b="1" dirty="0">
              <a:solidFill>
                <a:schemeClr val="accent1">
                  <a:lumMod val="7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solidFill>
                <a:latin typeface="Arial"/>
                <a:ea typeface="+mj-lt"/>
                <a:cs typeface="Arial"/>
              </a:rPr>
              <a:t>Result</a:t>
            </a:r>
            <a:endParaRPr lang="en-US" dirty="0">
              <a:solidFill>
                <a:schemeClr val="accent1">
                  <a:lumMod val="75000"/>
                </a:schemeClr>
              </a:solidFill>
            </a:endParaRPr>
          </a:p>
        </p:txBody>
      </p:sp>
      <p:pic>
        <p:nvPicPr>
          <p:cNvPr id="4" name="Screenshot 22"/>
          <p:cNvPicPr>
            <a:picLocks noGrp="1" noChangeAspect="1"/>
          </p:cNvPicPr>
          <p:nvPr>
            <p:ph idx="1"/>
          </p:nvPr>
        </p:nvPicPr>
        <p:blipFill>
          <a:blip r:embed="rId3"/>
          <a:stretch>
            <a:fillRect/>
          </a:stretch>
        </p:blipFill>
        <p:spPr>
          <a:xfrm>
            <a:off x="3702570" y="1475493"/>
            <a:ext cx="5092505" cy="3615398"/>
          </a:xfrm>
          <a:prstGeom prst="rect">
            <a:avLst/>
          </a:prstGeom>
          <a:ln w="9525">
            <a:solidFill>
              <a:schemeClr val="bg2">
                <a:lumMod val="50000"/>
              </a:schemeClr>
            </a:solidFill>
          </a:ln>
        </p:spPr>
      </p:pic>
      <p:sp>
        <p:nvSpPr>
          <p:cNvPr id="10" name="Rectangle 9"/>
          <p:cNvSpPr/>
          <p:nvPr/>
        </p:nvSpPr>
        <p:spPr>
          <a:xfrm>
            <a:off x="4500176" y="6002525"/>
            <a:ext cx="2711961" cy="369332"/>
          </a:xfrm>
          <a:prstGeom prst="rect">
            <a:avLst/>
          </a:prstGeom>
        </p:spPr>
        <p:txBody>
          <a:bodyPr wrap="none">
            <a:spAutoFit/>
          </a:bodyPr>
          <a:lstStyle/>
          <a:p>
            <a:pPr algn="ctr"/>
            <a:r>
              <a:rPr lang="en-IN" b="1" dirty="0" smtClean="0">
                <a:solidFill>
                  <a:schemeClr val="accent1"/>
                </a:solidFill>
              </a:rPr>
              <a:t>Upload Report(Local host)</a:t>
            </a:r>
            <a:endParaRPr lang="en-IN" b="1" dirty="0">
              <a:solidFill>
                <a:schemeClr val="accent1"/>
              </a:solidFill>
            </a:endParaRPr>
          </a:p>
        </p:txBody>
      </p:sp>
      <p:pic>
        <p:nvPicPr>
          <p:cNvPr id="13" name="Screenshot 20"/>
          <p:cNvPicPr>
            <a:picLocks noChangeAspect="1"/>
          </p:cNvPicPr>
          <p:nvPr/>
        </p:nvPicPr>
        <p:blipFill>
          <a:blip r:embed="rId4"/>
          <a:stretch>
            <a:fillRect/>
          </a:stretch>
        </p:blipFill>
        <p:spPr>
          <a:xfrm>
            <a:off x="2304957" y="1242436"/>
            <a:ext cx="7483620" cy="4648699"/>
          </a:xfrm>
          <a:prstGeom prst="rect">
            <a:avLst/>
          </a:prstGeom>
          <a:ln w="9525">
            <a:solidFill>
              <a:schemeClr val="bg2">
                <a:lumMod val="50000"/>
              </a:schemeClr>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solidFill>
                <a:latin typeface="Arial"/>
                <a:ea typeface="+mj-lt"/>
                <a:cs typeface="Arial"/>
              </a:rPr>
              <a:t>Result</a:t>
            </a:r>
            <a:endParaRPr lang="en-US" dirty="0">
              <a:solidFill>
                <a:schemeClr val="accent1">
                  <a:lumMod val="75000"/>
                </a:schemeClr>
              </a:solidFill>
            </a:endParaRPr>
          </a:p>
        </p:txBody>
      </p:sp>
      <p:pic>
        <p:nvPicPr>
          <p:cNvPr id="4" name="Screenshot 22"/>
          <p:cNvPicPr>
            <a:picLocks noGrp="1" noChangeAspect="1"/>
          </p:cNvPicPr>
          <p:nvPr>
            <p:ph idx="1"/>
          </p:nvPr>
        </p:nvPicPr>
        <p:blipFill>
          <a:blip r:embed="rId3"/>
          <a:stretch>
            <a:fillRect/>
          </a:stretch>
        </p:blipFill>
        <p:spPr>
          <a:xfrm>
            <a:off x="2588608" y="1301750"/>
            <a:ext cx="7014784" cy="4439483"/>
          </a:xfrm>
          <a:prstGeom prst="rect">
            <a:avLst/>
          </a:prstGeom>
          <a:ln w="9525">
            <a:solidFill>
              <a:schemeClr val="bg2">
                <a:lumMod val="50000"/>
              </a:schemeClr>
            </a:solidFill>
          </a:ln>
        </p:spPr>
      </p:pic>
      <p:sp>
        <p:nvSpPr>
          <p:cNvPr id="5" name="Rectangle 4"/>
          <p:cNvSpPr/>
          <p:nvPr/>
        </p:nvSpPr>
        <p:spPr>
          <a:xfrm>
            <a:off x="4986990" y="5867613"/>
            <a:ext cx="2397901" cy="369332"/>
          </a:xfrm>
          <a:prstGeom prst="rect">
            <a:avLst/>
          </a:prstGeom>
        </p:spPr>
        <p:txBody>
          <a:bodyPr wrap="none">
            <a:spAutoFit/>
          </a:bodyPr>
          <a:lstStyle/>
          <a:p>
            <a:r>
              <a:rPr lang="en-US" b="1" dirty="0" smtClean="0">
                <a:solidFill>
                  <a:schemeClr val="accent1">
                    <a:lumMod val="75000"/>
                  </a:schemeClr>
                </a:solidFill>
              </a:rPr>
              <a:t>Question to Ask Doctor</a:t>
            </a:r>
            <a:endParaRPr lang="en-US" b="1" dirty="0">
              <a:solidFill>
                <a:schemeClr val="accent1">
                  <a:lumMod val="7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xmlns="" id="{005E46AB-32C4-4B57-A2B1-50738A64BE1B}"/>
              </a:ext>
            </a:extLst>
          </p:cNvPr>
          <p:cNvSpPr>
            <a:spLocks noGrp="1"/>
          </p:cNvSpPr>
          <p:nvPr>
            <p:ph idx="1"/>
          </p:nvPr>
        </p:nvSpPr>
        <p:spPr/>
        <p:txBody>
          <a:bodyPr>
            <a:normAutofit/>
          </a:bodyPr>
          <a:lstStyle/>
          <a:p>
            <a:pPr marL="305435" indent="-305435"/>
            <a:r>
              <a:rPr lang="en-IN" sz="2000">
                <a:solidFill>
                  <a:srgbClr val="0F0F0F"/>
                </a:solidFill>
                <a:ea typeface="+mn-lt"/>
                <a:cs typeface="+mn-lt"/>
              </a:rPr>
              <a:t>MedReport Simplifier successfully converts complex medical reports into clear, patient-friendly summaries using Gemini 3.6 Flash and a well-structured prompt. The app correctly identifies key findings, flags results needing attention, and suggests relevant follow-up questions, making medical reports easier to understand for non-medical users. Challenges included handling varied report formats and ensuring the AI's output stays consistent, structured, and medically responsible. The current version provides a solid, working foundation for a genuinely useful patient-support tool.</a:t>
            </a:r>
            <a:endParaRPr lang="en-IN" sz="2000">
              <a:solidFill>
                <a:srgbClr val="404040"/>
              </a:solidFill>
              <a:ea typeface="+mn-lt"/>
              <a:cs typeface="+mn-lt"/>
            </a:endParaRPr>
          </a:p>
          <a:p>
            <a:pPr marL="305435" indent="-305435"/>
            <a:endParaRPr lang="en-IN" sz="2000">
              <a:solidFill>
                <a:srgbClr val="0F0F0F"/>
              </a:solidFill>
            </a:endParaRPr>
          </a:p>
        </p:txBody>
      </p:sp>
    </p:spTree>
    <p:extLst>
      <p:ext uri="{BB962C8B-B14F-4D97-AF65-F5344CB8AC3E}">
        <p14:creationId xmlns:p14="http://schemas.microsoft.com/office/powerpoint/2010/main" xmlns=""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6638FD1-D00E-E75B-705C-564F06D93D7B}"/>
              </a:ext>
            </a:extLst>
          </p:cNvPr>
          <p:cNvSpPr>
            <a:spLocks noGrp="1"/>
          </p:cNvSpPr>
          <p:nvPr>
            <p:ph idx="1"/>
          </p:nvPr>
        </p:nvSpPr>
        <p:spPr>
          <a:xfrm>
            <a:off x="581192" y="1528998"/>
            <a:ext cx="11066165" cy="3387776"/>
          </a:xfrm>
        </p:spPr>
        <p:txBody>
          <a:bodyPr/>
          <a:lstStyle/>
          <a:p>
            <a:pPr marL="0" indent="0">
              <a:buNone/>
            </a:pPr>
            <a:r>
              <a:rPr lang="en-US" sz="2000" dirty="0" smtClean="0">
                <a:ea typeface="+mn-lt"/>
                <a:cs typeface="+mn-lt"/>
              </a:rPr>
              <a:t>Add support for more languages so non-English speaking patients can also benefit. Improve OCR accuracy for handwritten and low-quality scanned reports. Allow users to securely save report history and track health trends over time. Integrate with hospital or lab systems (EHR) for direct report import. Build a mobile app version for easier access on the go. Add voice-based summaries for visually impaired or elderly users.</a:t>
            </a:r>
            <a:endParaRPr lang="en-US" sz="2000" dirty="0" smtClean="0"/>
          </a:p>
          <a:p>
            <a:pPr marL="0" indent="0">
              <a:buNone/>
            </a:pPr>
            <a:endParaRPr lang="en-US" sz="2000" b="1" dirty="0"/>
          </a:p>
          <a:p>
            <a:pPr marL="305435" indent="-305435"/>
            <a:endParaRPr lang="en-US" dirty="0"/>
          </a:p>
        </p:txBody>
      </p:sp>
      <p:sp>
        <p:nvSpPr>
          <p:cNvPr id="5" name="Title 4">
            <a:extLst>
              <a:ext uri="{FF2B5EF4-FFF2-40B4-BE49-F238E27FC236}">
                <a16:creationId xmlns:a16="http://schemas.microsoft.com/office/drawing/2014/main" xmlns=""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a:solidFill>
                  <a:schemeClr val="accent1"/>
                </a:solidFill>
                <a:latin typeface="Arial"/>
                <a:cs typeface="Arial"/>
              </a:rPr>
              <a:t>Future scope</a:t>
            </a:r>
          </a:p>
        </p:txBody>
      </p:sp>
    </p:spTree>
    <p:extLst>
      <p:ext uri="{BB962C8B-B14F-4D97-AF65-F5344CB8AC3E}">
        <p14:creationId xmlns:p14="http://schemas.microsoft.com/office/powerpoint/2010/main" xmlns=""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xmlns="" id="{357C38BC-22B3-37B2-E0C3-812020A76077}"/>
              </a:ext>
            </a:extLst>
          </p:cNvPr>
          <p:cNvSpPr>
            <a:spLocks noGrp="1"/>
          </p:cNvSpPr>
          <p:nvPr>
            <p:ph idx="1"/>
          </p:nvPr>
        </p:nvSpPr>
        <p:spPr/>
        <p:txBody>
          <a:bodyPr>
            <a:normAutofit/>
          </a:bodyPr>
          <a:lstStyle/>
          <a:p>
            <a:pPr marL="305435" indent="-305435"/>
            <a:r>
              <a:rPr lang="en-IN" sz="2400">
                <a:solidFill>
                  <a:srgbClr val="0F0F0F"/>
                </a:solidFill>
                <a:ea typeface="+mn-lt"/>
                <a:cs typeface="+mn-lt"/>
              </a:rPr>
              <a:t>Sources and documentation referred to while building MedReport Simplifier:</a:t>
            </a:r>
          </a:p>
          <a:p>
            <a:pPr marL="305435" indent="-305435"/>
            <a:r>
              <a:rPr lang="en-IN" sz="2400">
                <a:hlinkClick r:id="rId2"/>
              </a:rPr>
              <a:t>Project GitHub Repository</a:t>
            </a:r>
            <a:endParaRPr lang="en-IN" sz="2400"/>
          </a:p>
          <a:p>
            <a:pPr marL="305435" indent="-305435"/>
            <a:r>
              <a:rPr lang="en-IN" sz="2400">
                <a:hlinkClick r:id="rId3"/>
              </a:rPr>
              <a:t>Google Gemini API Documentation</a:t>
            </a:r>
            <a:endParaRPr lang="en-IN" sz="2400"/>
          </a:p>
          <a:p>
            <a:pPr marL="305435" indent="-305435"/>
            <a:r>
              <a:rPr lang="en-IN" sz="2400">
                <a:hlinkClick r:id="rId4"/>
              </a:rPr>
              <a:t>Streamlit Documentation</a:t>
            </a:r>
            <a:endParaRPr lang="en-IN" sz="2400"/>
          </a:p>
        </p:txBody>
      </p:sp>
    </p:spTree>
    <p:extLst>
      <p:ext uri="{BB962C8B-B14F-4D97-AF65-F5344CB8AC3E}">
        <p14:creationId xmlns:p14="http://schemas.microsoft.com/office/powerpoint/2010/main" xmlns="" val="728950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4D7422-ED9D-D856-C6AD-0F1A715C2428}"/>
              </a:ext>
            </a:extLst>
          </p:cNvPr>
          <p:cNvSpPr>
            <a:spLocks noGrp="1"/>
          </p:cNvSpPr>
          <p:nvPr>
            <p:ph type="title"/>
          </p:nvPr>
        </p:nvSpPr>
        <p:spPr/>
        <p:txBody>
          <a:bodyPr/>
          <a:lstStyle/>
          <a:p>
            <a:r>
              <a:rPr lang="en-IN"/>
              <a:t>Deployment link / </a:t>
            </a:r>
            <a:r>
              <a:rPr lang="en-IN" err="1"/>
              <a:t>github</a:t>
            </a:r>
            <a:r>
              <a:rPr lang="en-IN"/>
              <a:t> link</a:t>
            </a:r>
          </a:p>
        </p:txBody>
      </p:sp>
      <p:sp>
        <p:nvSpPr>
          <p:cNvPr id="3" name="Content Placeholder 2">
            <a:extLst>
              <a:ext uri="{FF2B5EF4-FFF2-40B4-BE49-F238E27FC236}">
                <a16:creationId xmlns:a16="http://schemas.microsoft.com/office/drawing/2014/main" xmlns="" id="{618C47C2-EF01-12B0-99EA-861F9629D1D9}"/>
              </a:ext>
            </a:extLst>
          </p:cNvPr>
          <p:cNvSpPr>
            <a:spLocks noGrp="1"/>
          </p:cNvSpPr>
          <p:nvPr>
            <p:ph idx="1"/>
          </p:nvPr>
        </p:nvSpPr>
        <p:spPr/>
        <p:txBody>
          <a:bodyPr/>
          <a:lstStyle/>
          <a:p>
            <a:pPr marL="305435" indent="-305435"/>
            <a:r>
              <a:rPr lang="en-IN" b="1" dirty="0" err="1"/>
              <a:t>GitHub</a:t>
            </a:r>
            <a:r>
              <a:rPr lang="en-IN" b="1" dirty="0"/>
              <a:t> Link: </a:t>
            </a:r>
            <a:r>
              <a:rPr lang="en-IN" dirty="0">
                <a:hlinkClick r:id="rId2"/>
              </a:rPr>
              <a:t>github.com/22072000palak-boop/Medical-Agent</a:t>
            </a:r>
          </a:p>
          <a:p>
            <a:pPr marL="305435" indent="-305435"/>
            <a:r>
              <a:rPr lang="en-IN" b="1" dirty="0"/>
              <a:t>Deployment Platform: </a:t>
            </a:r>
            <a:r>
              <a:rPr lang="en-IN" b="1" dirty="0" smtClean="0"/>
              <a:t>https://streamlit.io</a:t>
            </a:r>
            <a:endParaRPr lang="en-IN" dirty="0"/>
          </a:p>
          <a:p>
            <a:pPr marL="305435" indent="-305435"/>
            <a:r>
              <a:rPr lang="en-IN" b="1" dirty="0"/>
              <a:t>Live App Link: </a:t>
            </a:r>
            <a:r>
              <a:rPr lang="en-IN" dirty="0">
                <a:hlinkClick r:id="rId3"/>
              </a:rPr>
              <a:t>medical-agent-qwhjbmvr8ncrrmhvticiuo.streamlit.app</a:t>
            </a:r>
            <a:endParaRPr lang="en-IN" dirty="0"/>
          </a:p>
        </p:txBody>
      </p:sp>
    </p:spTree>
    <p:extLst>
      <p:ext uri="{BB962C8B-B14F-4D97-AF65-F5344CB8AC3E}">
        <p14:creationId xmlns:p14="http://schemas.microsoft.com/office/powerpoint/2010/main" xmlns="" val="258852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xmlns=""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111</TotalTime>
  <Words>944</Words>
  <Application>Microsoft Office PowerPoint</Application>
  <PresentationFormat>Custom</PresentationFormat>
  <Paragraphs>85</Paragraphs>
  <Slides>15</Slides>
  <Notes>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DividendVTI</vt:lpstr>
      <vt:lpstr>Slide 1</vt:lpstr>
      <vt:lpstr>OUTLINE</vt:lpstr>
      <vt:lpstr>Problem Statement</vt:lpstr>
      <vt:lpstr>Proposed Solution</vt:lpstr>
      <vt:lpstr>System  Approach</vt:lpstr>
      <vt:lpstr>Algorithm &amp; Deployment</vt:lpstr>
      <vt:lpstr>Result</vt:lpstr>
      <vt:lpstr>Result</vt:lpstr>
      <vt:lpstr>Result</vt:lpstr>
      <vt:lpstr>Result</vt:lpstr>
      <vt:lpstr>Conclusion</vt:lpstr>
      <vt:lpstr>Slide 12</vt:lpstr>
      <vt:lpstr>References</vt:lpstr>
      <vt:lpstr>Deployment link / github link</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Admin</cp:lastModifiedBy>
  <cp:revision>15</cp:revision>
  <dcterms:created xsi:type="dcterms:W3CDTF">2021-05-26T16:50:10Z</dcterms:created>
  <dcterms:modified xsi:type="dcterms:W3CDTF">2026-09-07T13:23:06Z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